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15"/>
    <p:sldId id="272" r:id="rId16"/>
    <p:sldId id="273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163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64606" y="1484840"/>
            <a:ext cx="4014788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kern="0" spc="2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LÚCIO SANTANA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2760166" y="2181355"/>
            <a:ext cx="3623667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6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Idealizador e Owner Institucional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827014" y="3244323"/>
            <a:ext cx="5489972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8F9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
Construindo uma infraestrutura privada de crescimento empresarial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02 — POSICIONAMENTO QUE DEVE SER TRANSMITIDO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28625" y="1285875"/>
            <a:ext cx="82867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Lúcio</a:t>
            </a:r>
            <a:r>
              <a:rPr lang="en-US" sz="16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 Santana Voce </a:t>
            </a:r>
            <a:r>
              <a:rPr lang="en-US" sz="1600" b="1" dirty="0" err="1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deve</a:t>
            </a:r>
            <a:r>
              <a:rPr lang="en-US" sz="16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 ser percebido como: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28625" y="1648420"/>
            <a:ext cx="4100513" cy="32146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8625" y="1648420"/>
            <a:ext cx="14288" cy="32146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2925" y="1705570"/>
            <a:ext cx="221813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Idealizador do ecossistema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14863" y="1648420"/>
            <a:ext cx="4100513" cy="32146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614863" y="1648420"/>
            <a:ext cx="14288" cy="32146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729163" y="1705570"/>
            <a:ext cx="24288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 institucional do projeto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8625" y="2055614"/>
            <a:ext cx="4100513" cy="32146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8625" y="2055614"/>
            <a:ext cx="14288" cy="32146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2925" y="2112764"/>
            <a:ext cx="170735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Conector estratégico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614863" y="2055614"/>
            <a:ext cx="4100513" cy="32146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614863" y="2055614"/>
            <a:ext cx="14288" cy="32146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29163" y="2112764"/>
            <a:ext cx="291107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Construtor de ambiente empresarial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28625" y="2462808"/>
            <a:ext cx="4100513" cy="32146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28625" y="2462808"/>
            <a:ext cx="14288" cy="32146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42925" y="2519958"/>
            <a:ext cx="329862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Figura de credibilidade e relacionamento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614863" y="2462808"/>
            <a:ext cx="4100513" cy="32146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614863" y="2462808"/>
            <a:ext cx="14288" cy="32146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729163" y="2519958"/>
            <a:ext cx="255210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Líder com visão de longo prazo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28625" y="2870002"/>
            <a:ext cx="4100513" cy="32146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28625" y="2870002"/>
            <a:ext cx="14288" cy="32146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42925" y="2927152"/>
            <a:ext cx="312181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Estruturador de conexões qualificadas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28625" y="3277195"/>
            <a:ext cx="4100513" cy="1041202"/>
          </a:xfrm>
          <a:prstGeom prst="rect">
            <a:avLst/>
          </a:prstGeom>
          <a:solidFill>
            <a:srgbClr val="E63946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28625" y="3277195"/>
            <a:ext cx="4100513" cy="28575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42925" y="3391495"/>
            <a:ext cx="38719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8F9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posicionamento correto NÃO é: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42925" y="3621881"/>
            <a:ext cx="3871913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6394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“palestrante”.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614863" y="3277195"/>
            <a:ext cx="4100513" cy="1041202"/>
          </a:xfrm>
          <a:prstGeom prst="rect">
            <a:avLst/>
          </a:prstGeom>
          <a:solidFill>
            <a:srgbClr val="C9A84C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614863" y="3277195"/>
            <a:ext cx="4100513" cy="285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729163" y="3391495"/>
            <a:ext cx="38719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8F9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posicionamento correto é: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729163" y="3621881"/>
            <a:ext cx="3871913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“líder institucional do ecossistema”.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428625" y="4714875"/>
            <a:ext cx="828675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28625" y="4714875"/>
            <a:ext cx="828675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03 — OBJETIVO DA SUA PARTICIPAÇÃO NO DIA 09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28625" y="1028700"/>
            <a:ext cx="82867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Sua participação deve gerar 5 percepções principais: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28625" y="1357313"/>
            <a:ext cx="4100513" cy="81795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8625" y="1357313"/>
            <a:ext cx="21431" cy="81795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14350" y="1443038"/>
            <a:ext cx="392906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1. O projeto possui liderança séria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4350" y="1689497"/>
            <a:ext cx="39290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mercado precisa perceber: </a:t>
            </a:r>
            <a:r>
              <a:rPr lang="en-US" sz="10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“isso não é improvisado”.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14863" y="1357313"/>
            <a:ext cx="4100513" cy="81795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14863" y="1357313"/>
            <a:ext cx="21431" cy="81795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00588" y="1443038"/>
            <a:ext cx="392906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2. O projeto possui visão de longo prazo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00588" y="1689497"/>
            <a:ext cx="39290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RBG não nasce para ser evento; </a:t>
            </a:r>
            <a:r>
              <a:rPr lang="en-US" sz="10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Nasce para ser estrutura empresarial.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8625" y="2260997"/>
            <a:ext cx="4100513" cy="81795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28625" y="2260997"/>
            <a:ext cx="21431" cy="81795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14350" y="2346722"/>
            <a:ext cx="392906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3. O projeto possui credibilidade institucional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14350" y="2593181"/>
            <a:ext cx="39290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ambiente precisa transmitir: </a:t>
            </a:r>
            <a:r>
              <a:rPr lang="en-US" sz="10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■ estabilidade, ■ confiança, ■ organização, ■ visão empresarial madura.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14863" y="2260997"/>
            <a:ext cx="4100513" cy="81795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614863" y="2260997"/>
            <a:ext cx="21431" cy="81795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00588" y="2346722"/>
            <a:ext cx="392906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4. O projeto possui critério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00588" y="2593181"/>
            <a:ext cx="39290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RBG não aceitará qualquer empresa. </a:t>
            </a:r>
            <a:r>
              <a:rPr lang="en-US" sz="10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Isso aumenta valor percebido.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28625" y="3164681"/>
            <a:ext cx="8286750" cy="617934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28625" y="3164681"/>
            <a:ext cx="21431" cy="61793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14350" y="3250406"/>
            <a:ext cx="81153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5. O projeto possui potencial real de impacto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14350" y="3496866"/>
            <a:ext cx="81153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empresários precisam perceber: </a:t>
            </a:r>
            <a:r>
              <a:rPr lang="en-US" sz="10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“isso pode realmente transformar empresas”.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28625" y="4714875"/>
            <a:ext cx="828675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28625" y="4714875"/>
            <a:ext cx="828675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04 — TOM CORRETO DA SUA PARTICIPAÇÃO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28625" y="1057275"/>
            <a:ext cx="4014788" cy="216812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057275"/>
            <a:ext cx="4014788" cy="285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2925" y="1171575"/>
            <a:ext cx="37861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 tom correto é: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2925" y="1508224"/>
            <a:ext cx="863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14961" y="1500188"/>
            <a:ext cx="71794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Executivo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2925" y="1740396"/>
            <a:ext cx="863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14961" y="1732359"/>
            <a:ext cx="89118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Institucional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2925" y="1972568"/>
            <a:ext cx="863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14961" y="1964531"/>
            <a:ext cx="5715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Maduro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2925" y="2204740"/>
            <a:ext cx="863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14961" y="2196703"/>
            <a:ext cx="53220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Seguro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2925" y="2436912"/>
            <a:ext cx="863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14961" y="2428875"/>
            <a:ext cx="39112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Claro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2925" y="2669084"/>
            <a:ext cx="863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14961" y="2661047"/>
            <a:ext cx="61257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2925" y="2901255"/>
            <a:ext cx="863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14961" y="2893219"/>
            <a:ext cx="154483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Humano, Estratégico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700588" y="1057275"/>
            <a:ext cx="4014788" cy="213955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700588" y="1057275"/>
            <a:ext cx="4014788" cy="28575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814888" y="1171575"/>
            <a:ext cx="37861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6394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Evitar: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814888" y="1508224"/>
            <a:ext cx="863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639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986924" y="1500188"/>
            <a:ext cx="130730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tom motivacional,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814888" y="1740396"/>
            <a:ext cx="863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639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986924" y="1732359"/>
            <a:ext cx="2127052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exageros, promessas irreais,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814888" y="1964531"/>
            <a:ext cx="99655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teatralização,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4814888" y="2204740"/>
            <a:ext cx="863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639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986924" y="2196703"/>
            <a:ext cx="2260997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discurso emocional excessivo,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4814888" y="2436912"/>
            <a:ext cx="863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639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986924" y="2428875"/>
            <a:ext cx="172343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fala longa sem direção.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28625" y="3311128"/>
            <a:ext cx="8286750" cy="750094"/>
          </a:xfrm>
          <a:prstGeom prst="rect">
            <a:avLst/>
          </a:prstGeom>
          <a:solidFill>
            <a:srgbClr val="C9A84C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28625" y="3311128"/>
            <a:ext cx="28575" cy="75009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71500" y="3439716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8F9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ambiente precisa parecer: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71500" y="3655814"/>
            <a:ext cx="80010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“conselho estratégico empresarial”.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428625" y="4714875"/>
            <a:ext cx="828675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428625" y="4714875"/>
            <a:ext cx="828675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05 — PAPEL DE LÚCIO SANTANA NO EVENTO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28625" y="1285875"/>
            <a:ext cx="2619384" cy="34290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285875"/>
            <a:ext cx="2619384" cy="285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7219" y="1464469"/>
            <a:ext cx="226219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ANTES DO EVENTO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7219" y="1850231"/>
            <a:ext cx="690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47694" y="1814513"/>
            <a:ext cx="212172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Recepcionar convidados estratégicos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07219" y="2336006"/>
            <a:ext cx="690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47694" y="2300288"/>
            <a:ext cx="196988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Validar ambiente institucional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7219" y="2621756"/>
            <a:ext cx="690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47694" y="2586038"/>
            <a:ext cx="212172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Conectar empresários e conselheiros-chave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7219" y="3107531"/>
            <a:ext cx="690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47694" y="3071813"/>
            <a:ext cx="212172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Reforçar percepção de organização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62322" y="1285875"/>
            <a:ext cx="2619384" cy="34290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262322" y="1285875"/>
            <a:ext cx="2619384" cy="285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440916" y="1464469"/>
            <a:ext cx="226219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DURANTE O EVENTO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440916" y="1850231"/>
            <a:ext cx="690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581391" y="1814513"/>
            <a:ext cx="19931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Realizar abertura institucional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440916" y="2135981"/>
            <a:ext cx="690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581391" y="2100263"/>
            <a:ext cx="183058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Posicionar visão do projeto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440916" y="2421731"/>
            <a:ext cx="690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581391" y="2386013"/>
            <a:ext cx="212172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Demonstrar propósito do ecossistema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40916" y="2907506"/>
            <a:ext cx="690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581391" y="2871788"/>
            <a:ext cx="212172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Reforçar importância da seleção correta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440916" y="3393281"/>
            <a:ext cx="690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581391" y="3357563"/>
            <a:ext cx="212172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Participar da deliberação estratégica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440916" y="3879056"/>
            <a:ext cx="690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581391" y="3843338"/>
            <a:ext cx="212172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Participar do anúncio das empresas selecionadas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096019" y="1285875"/>
            <a:ext cx="2619384" cy="34290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096019" y="1285875"/>
            <a:ext cx="2619384" cy="285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274612" y="1464469"/>
            <a:ext cx="226219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APÓS O EVENTO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274612" y="1850231"/>
            <a:ext cx="690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415088" y="1814513"/>
            <a:ext cx="212172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Fortalecer relacionamento institucional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274612" y="2336006"/>
            <a:ext cx="690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415088" y="2300288"/>
            <a:ext cx="212172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Manter proximidade com empresas estratégicas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274612" y="2821781"/>
            <a:ext cx="690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6415088" y="2786063"/>
            <a:ext cx="212172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Apoiar consolidação do ecossistema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28625" y="4714875"/>
            <a:ext cx="828675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428625" y="4714875"/>
            <a:ext cx="828675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06 — ESTRUTURA DA SUA FALA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28625" y="1285875"/>
            <a:ext cx="2084189" cy="692944"/>
          </a:xfrm>
          <a:prstGeom prst="rect">
            <a:avLst/>
          </a:prstGeom>
          <a:solidFill>
            <a:srgbClr val="C9A84C">
              <a:alpha val="10000"/>
            </a:srgbClr>
          </a:solidFill>
          <a:ln w="18288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14350" y="1371600"/>
            <a:ext cx="18841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8F9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recomendado: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14350" y="1587698"/>
            <a:ext cx="1884164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20 a 25 minutos.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028950" y="1285875"/>
            <a:ext cx="56864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Estrutura ideal: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028950" y="1614488"/>
            <a:ext cx="2800350" cy="58578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028950" y="1614488"/>
            <a:ext cx="28575" cy="58578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114675" y="1700213"/>
            <a:ext cx="772837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5 minutos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87512" y="1700213"/>
            <a:ext cx="1856063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pessoal e origem da ideia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15025" y="1614488"/>
            <a:ext cx="2800350" cy="58578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915025" y="1614488"/>
            <a:ext cx="28575" cy="58578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000750" y="1700213"/>
            <a:ext cx="7672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5 minutos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767950" y="1700213"/>
            <a:ext cx="18617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problema do empresário atual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028950" y="2286000"/>
            <a:ext cx="2800350" cy="58578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028950" y="2286000"/>
            <a:ext cx="28575" cy="58578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114675" y="2475309"/>
            <a:ext cx="9192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5 minutos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033875" y="2371725"/>
            <a:ext cx="17097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o RBG foi criado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915025" y="2286000"/>
            <a:ext cx="2800350" cy="58578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915025" y="2286000"/>
            <a:ext cx="28575" cy="58578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000750" y="2371725"/>
            <a:ext cx="77548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5 minutos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776238" y="2371725"/>
            <a:ext cx="1853412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de futuro do ecossistema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3028950" y="2957513"/>
            <a:ext cx="2800350" cy="58578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3028950" y="2957513"/>
            <a:ext cx="28575" cy="58578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114675" y="3043238"/>
            <a:ext cx="73776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5 minutos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852435" y="3043238"/>
            <a:ext cx="189114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Mensagem final e direcionamento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28625" y="3686175"/>
            <a:ext cx="828675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28625" y="3686175"/>
            <a:ext cx="828675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28625" y="38397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07 — ABERTURA RECOMENDADA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28625" y="1285875"/>
            <a:ext cx="8286750" cy="34290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285875"/>
            <a:ext cx="42863" cy="34290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14350" y="1371600"/>
            <a:ext cx="233288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400" dirty="0">
                <a:solidFill>
                  <a:srgbClr val="C9A84C">
                    <a:alpha val="20000"/>
                  </a:srgbClr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"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57250" y="1371600"/>
            <a:ext cx="7429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Primeiramente, quero agradecer a presença de todos.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57250" y="1771650"/>
            <a:ext cx="7429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Hoje não estamos apenas reunidos para lançar um projeto. Estamos reunidos para iniciar a construção de uma estrutura empresarial criada para ajudar empresas a crescerem de forma mais organizada, mais madura e mais sustentável.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57250" y="3200400"/>
            <a:ext cx="742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 longo dos anos, convivendo com empresários, percebemos algo muito claro: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57250" y="3986213"/>
            <a:ext cx="4052627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C9A84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Muitas empresas possuem potencial.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7250" y="4329113"/>
            <a:ext cx="3493517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C9A84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Mas poucas possuem estrutura.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8625" y="4714875"/>
            <a:ext cx="828675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28625" y="4714875"/>
            <a:ext cx="828675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28625" y="4871145"/>
            <a:ext cx="1655927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08 — BLOCO 1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28625" y="1285875"/>
            <a:ext cx="3007519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Direção da fala:
O PROBLEMA DO EMPRESÁRIO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28625" y="1914525"/>
            <a:ext cx="8286750" cy="235743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8625" y="1914525"/>
            <a:ext cx="28575" cy="235743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0075" y="2071688"/>
            <a:ext cx="350400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Muitos empresários trabalham muito,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0075" y="2371725"/>
            <a:ext cx="301466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vendem, crescem, movimentam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00075" y="2671763"/>
            <a:ext cx="320218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mercado… mas continuam presos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00075" y="2971800"/>
            <a:ext cx="264854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dentro da própria operação.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00075" y="3571875"/>
            <a:ext cx="2292551" cy="2585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empresário vira: </a:t>
            </a:r>
            <a:r>
              <a:rPr lang="en-US" sz="1500" dirty="0" err="1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comercial</a:t>
            </a: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00075" y="3871913"/>
            <a:ext cx="2558842" cy="2585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financeiro, </a:t>
            </a:r>
            <a:r>
              <a:rPr lang="en-US" sz="1500" dirty="0" err="1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operação</a:t>
            </a: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gestão, RH,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700588" y="2071688"/>
            <a:ext cx="1884298" cy="2585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resolução de problema.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700588" y="2671763"/>
            <a:ext cx="296644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isso cria empresas cansadas,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700588" y="2971800"/>
            <a:ext cx="254853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sobrecarregadas e frágeis.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700588" y="3328988"/>
            <a:ext cx="38433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 crescimento sem estrutura cobra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700588" y="3714750"/>
            <a:ext cx="38433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um preço muito alto.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28625" y="4271963"/>
            <a:ext cx="828675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28625" y="4271963"/>
            <a:ext cx="828675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28625" y="4425553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09 — BLOCO 2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28625" y="1285875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Direção da fala:
POR QUE O RBG FOI CRIADO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28625" y="1857375"/>
            <a:ext cx="8286750" cy="134871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8625" y="1857375"/>
            <a:ext cx="28575" cy="134871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28625" y="1857375"/>
            <a:ext cx="8286750" cy="2571345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RBG nasce porque acreditamos que empresários precisam de mais do que networking. Precisam de: 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</a:t>
            </a:r>
            <a:r>
              <a:rPr lang="en-US" sz="1500" dirty="0" err="1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direção</a:t>
            </a: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</a:p>
          <a:p>
            <a:pPr>
              <a:lnSpc>
                <a:spcPct val="112000"/>
              </a:lnSpc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00" dirty="0" err="1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Percepção</a:t>
            </a: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clareza, 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execução, 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estrutura. 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500" dirty="0" err="1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</a:t>
            </a: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queríamos criar mais um grupo empresarial.
</a:t>
            </a: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Queríamos construir uma infraestrutura de crescimento.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8625" y="4714875"/>
            <a:ext cx="828675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28625" y="4714875"/>
            <a:ext cx="828675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10 — BLOCO 3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28625" y="2121694"/>
            <a:ext cx="82867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Direção da fala: O DIFERENCIAL DO RBG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28625" y="2421731"/>
            <a:ext cx="8286750" cy="13716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8625" y="2421731"/>
            <a:ext cx="28575" cy="13716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28625" y="2421731"/>
            <a:ext cx="8286750" cy="1371600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diferencial do RBG não está apenas no ambiente. Está na combinação entre metodologia, conselho, acompanhamento, seleção e execução. Não queremos quantidade; queremos qualidade empresarial. </a:t>
            </a: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Queremos empresas comprometidas em evoluir.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8625" y="4714875"/>
            <a:ext cx="828675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28625" y="4714875"/>
            <a:ext cx="828675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11 — BLOCO 4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28625" y="160020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Direção da fala:
A IMPORTÂNCIA DA SELEÇÃO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28625" y="2128838"/>
            <a:ext cx="8286750" cy="218598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8625" y="2128838"/>
            <a:ext cx="28575" cy="218598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28625" y="2128838"/>
            <a:ext cx="8286750" cy="2185988"/>
          </a:xfrm>
          <a:prstGeom prst="rect">
            <a:avLst/>
          </a:prstGeom>
          <a:noFill/>
          <a:ln/>
        </p:spPr>
        <p:txBody>
          <a:bodyPr wrap="square" lIns="340233" tIns="51054" rIns="340233" bIns="51054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Nem toda empresa está pronta para entrar numa estrutura como essa. E isso é importante.
 O RBG precisa proteger: ■ sua qualidade, ■ sua cultura e sua credibilidade.
 </a:t>
            </a: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Entrar no RBG não será um prêmio.
Será uma responsabilidade.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8625" y="4714875"/>
            <a:ext cx="828675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28625" y="4714875"/>
            <a:ext cx="828675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12 — BLOCO 5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28625" y="1914525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Direção da fala:
VISÃO DE FUTURO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28625" y="2486025"/>
            <a:ext cx="8286750" cy="16002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8625" y="2486025"/>
            <a:ext cx="28575" cy="16002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7225" y="2628900"/>
            <a:ext cx="719911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nossa visão é construir um ambiente empresarial forte, sério e respeitado.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7225" y="2986088"/>
            <a:ext cx="78295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ecossistema que ajude empresas: a se organizarem, crescerem, amadurecerem e criarem estruturas mais sólidas.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7225" y="3671888"/>
            <a:ext cx="78295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 objetivo é construir algo duradouro — algo que gere impacto real.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8625" y="4714875"/>
            <a:ext cx="828675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28625" y="4714875"/>
            <a:ext cx="828675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13 — COMO VOCÊ DEVE SER PERCEBIDO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28625" y="1343025"/>
            <a:ext cx="8286750" cy="32289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343025"/>
            <a:ext cx="28575" cy="32289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1343025"/>
            <a:ext cx="8286750" cy="1900970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pessoas precisam enxergar você como: 
■ figura de estabilidade, ■ construtor do ambiente, ■ líder institucional,
■ homem de relacionamento, ■ articulador estratégico, ■ alguém que pensa no longo prazo.
 Você não precisa parecer: “o mais técnico”. Eu </a:t>
            </a:r>
            <a:r>
              <a:rPr lang="en-US" sz="1500" dirty="0" err="1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assumo</a:t>
            </a: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esse papel operacional e metodológico.
 </a:t>
            </a: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Você precisa parecer: “o líder institucional que sustenta a visão do ecossistema”. Essa separação é importante.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625" y="4714875"/>
            <a:ext cx="828675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28625" y="4714875"/>
            <a:ext cx="828675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16 — FRASES IMPORTANTES PARA UTILIZAR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28625" y="892969"/>
            <a:ext cx="8286750" cy="28003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892969"/>
            <a:ext cx="28575" cy="280035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14375" y="992981"/>
            <a:ext cx="77152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“Empresas precisam de estrutura antes de escala.”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14375" y="1364456"/>
            <a:ext cx="77152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“O crescimento sem organização cobra um preço alto.”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14375" y="1735931"/>
            <a:ext cx="77152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“O RBG nasce para construir empresas mais fortes.”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14375" y="2107406"/>
            <a:ext cx="77152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“Não queremos quantidade. Queremos qualidade.”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4375" y="2478881"/>
            <a:ext cx="77152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“Entrar no RBG é assumir responsabilidade.”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14375" y="2850356"/>
            <a:ext cx="77152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“O objetivo não é apenas crescer. É crescer de forma saudável.”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14375" y="3221831"/>
            <a:ext cx="4066819" cy="5355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 “Ambientes fortes ajudam empresas a </a:t>
            </a:r>
            <a:r>
              <a:rPr lang="en-US" sz="1500" dirty="0" err="1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evoluírem</a:t>
            </a: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.”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 err="1">
                <a:solidFill>
                  <a:srgbClr val="F8F9FA"/>
                </a:solidFill>
                <a:latin typeface="Inter" pitchFamily="34" charset="0"/>
                <a:ea typeface="Inter" pitchFamily="34" charset="-122"/>
              </a:rPr>
              <a:t>Frase</a:t>
            </a: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</a:rPr>
              <a:t> com a </a:t>
            </a:r>
            <a:r>
              <a:rPr lang="en-US" sz="1500" dirty="0" err="1">
                <a:solidFill>
                  <a:srgbClr val="F8F9FA"/>
                </a:solidFill>
                <a:latin typeface="Inter" pitchFamily="34" charset="0"/>
                <a:ea typeface="Inter" pitchFamily="34" charset="-122"/>
              </a:rPr>
              <a:t>palavra</a:t>
            </a: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1500" dirty="0" err="1">
                <a:solidFill>
                  <a:srgbClr val="F8F9FA"/>
                </a:solidFill>
                <a:latin typeface="Inter" pitchFamily="34" charset="0"/>
                <a:ea typeface="Inter" pitchFamily="34" charset="-122"/>
              </a:rPr>
              <a:t>vivencia</a:t>
            </a: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</a:rPr>
              <a:t>. 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28625" y="3836194"/>
            <a:ext cx="828675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28625" y="3836194"/>
            <a:ext cx="828675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28625" y="3989784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18 — OBJETIVO FINAL DA SUA PARTICIPAÇÃO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28625" y="1207294"/>
            <a:ext cx="8286750" cy="344328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207294"/>
            <a:ext cx="28575" cy="344328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1207294"/>
            <a:ext cx="8286750" cy="3443288"/>
          </a:xfrm>
          <a:prstGeom prst="rect">
            <a:avLst/>
          </a:prstGeom>
          <a:noFill/>
          <a:ln/>
        </p:spPr>
        <p:txBody>
          <a:bodyPr wrap="square" lIns="255143" tIns="85090" rIns="255143" bIns="8509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 final do dia, os empresários devem sair pensando:
</a:t>
            </a: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“Existe uma estrutura séria sendo construída aqui.”
“Esse ambiente possui direção.”
“Existe critério.”
“Existe visão de longo prazo.”
“Vale a pena estar próximo desse ecossistema.”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625" y="4714875"/>
            <a:ext cx="828675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28625" y="4714875"/>
            <a:ext cx="828675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19 — MENSAGEM FINAL RECOMENDADA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28625" y="1735931"/>
            <a:ext cx="8286750" cy="252888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735931"/>
            <a:ext cx="28575" cy="252888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8625" y="1735931"/>
            <a:ext cx="8286750" cy="2638928"/>
          </a:xfrm>
          <a:prstGeom prst="rect">
            <a:avLst/>
          </a:prstGeom>
          <a:noFill/>
          <a:ln/>
        </p:spPr>
        <p:txBody>
          <a:bodyPr wrap="square" lIns="340233" tIns="255143" rIns="340233" bIns="255143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 err="1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Hoje</a:t>
            </a: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iniciamos a construção de algo que acreditamos poder gerar impacto real em empresas e empresários.
O RBG nasce com responsabilidade, visão e propósito.
</a:t>
            </a: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Agora começa o mais importante:
a </a:t>
            </a:r>
            <a:r>
              <a:rPr lang="en-US" sz="1400" b="1" dirty="0" err="1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execução</a:t>
            </a: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 err="1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</a:rPr>
              <a:t>Convite</a:t>
            </a: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</a:rPr>
              <a:t> </a:t>
            </a:r>
            <a:r>
              <a:rPr lang="en-US" sz="1400" b="1" dirty="0" err="1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</a:rPr>
              <a:t>distacando</a:t>
            </a: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</a:rPr>
              <a:t> que </a:t>
            </a:r>
            <a:r>
              <a:rPr lang="en-US" sz="1400" b="1" dirty="0" err="1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</a:rPr>
              <a:t>sao</a:t>
            </a: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</a:rPr>
              <a:t> as </a:t>
            </a:r>
            <a:r>
              <a:rPr lang="en-US" sz="1400" b="1" dirty="0" err="1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</a:rPr>
              <a:t>pessoas</a:t>
            </a: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</a:rPr>
              <a:t> </a:t>
            </a:r>
            <a:r>
              <a:rPr lang="en-US" sz="1400" b="1" dirty="0" err="1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</a:rPr>
              <a:t>envolvidas</a:t>
            </a: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</a:rPr>
              <a:t> ---   agenda </a:t>
            </a:r>
            <a:r>
              <a:rPr lang="en-US" sz="1400" b="1" dirty="0" err="1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</a:rPr>
              <a:t>é</a:t>
            </a: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</a:rPr>
              <a:t> </a:t>
            </a:r>
            <a:r>
              <a:rPr lang="en-US" sz="1400" b="1" dirty="0" err="1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</a:rPr>
              <a:t>uma</a:t>
            </a: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</a:rPr>
              <a:t> de </a:t>
            </a:r>
            <a:r>
              <a:rPr lang="en-US" sz="1400" b="1" dirty="0" err="1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</a:rPr>
              <a:t>lancamento</a:t>
            </a: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</a:rPr>
              <a:t> de </a:t>
            </a:r>
            <a:r>
              <a:rPr lang="en-US" sz="1400" b="1" dirty="0" err="1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</a:rPr>
              <a:t>uma</a:t>
            </a: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</a:rPr>
              <a:t> nova </a:t>
            </a:r>
            <a:r>
              <a:rPr lang="en-US" sz="1400" b="1" dirty="0" err="1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</a:rPr>
              <a:t>estrutura</a:t>
            </a: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</a:rPr>
              <a:t> </a:t>
            </a:r>
            <a:r>
              <a:rPr lang="en-US" sz="1400" b="1" dirty="0" err="1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</a:rPr>
              <a:t>Empresarial</a:t>
            </a: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</a:rPr>
              <a:t>. </a:t>
            </a:r>
          </a:p>
          <a:p>
            <a:pPr marL="0" indent="0" algn="ctr">
              <a:lnSpc>
                <a:spcPct val="120000"/>
              </a:lnSpc>
              <a:buNone/>
            </a:pP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625" y="4714875"/>
            <a:ext cx="828675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28625" y="4714875"/>
            <a:ext cx="828675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2878</TotalTime>
  <Words>1187</Words>
  <Application>Microsoft Macintosh PowerPoint</Application>
  <PresentationFormat>On-screen Show (16:9)</PresentationFormat>
  <Paragraphs>187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Inter</vt:lpstr>
      <vt:lpstr>Inter ExtraBold</vt:lpstr>
      <vt:lpstr>Inter SemiBold</vt:lpstr>
      <vt:lpstr>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Alexandre Medeiros</cp:lastModifiedBy>
  <cp:revision>5</cp:revision>
  <dcterms:created xsi:type="dcterms:W3CDTF">2026-05-28T17:03:46Z</dcterms:created>
  <dcterms:modified xsi:type="dcterms:W3CDTF">2026-06-06T16:36:39Z</dcterms:modified>
</cp:coreProperties>
</file>