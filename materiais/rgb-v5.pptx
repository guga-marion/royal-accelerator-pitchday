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4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583" y="463646"/>
            <a:ext cx="2030834" cy="1143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35906" y="1892396"/>
            <a:ext cx="60721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2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ROYAL BUSINESS GROWTH (RBG)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1600200" y="2449609"/>
            <a:ext cx="59436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kern="0" spc="1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Infraestrutura Privada de Crescimento Empresarial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714500" y="3326504"/>
            <a:ext cx="57150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estratégica criada para organizar, fortalecer e acelerar empresas através de direção, governança, execução e acompanhamento empresarial.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2778026" y="4506618"/>
            <a:ext cx="35879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kern="0" spc="2" dirty="0">
                <a:solidFill>
                  <a:srgbClr val="C9A84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ORLANDO • FLÓRIDA • ESTADOS UNIDOS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14313"/>
            <a:ext cx="8286750" cy="39826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DEFINIÇÃO INSTITUCIONAL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28625" y="857250"/>
            <a:ext cx="40005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Royal Business Growth (RBG) é uma infraestrutura privada de crescimento empresarial criada para apoiar empresas em fase de organização, expansão e profissionalização.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28625" y="1907381"/>
            <a:ext cx="4000500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RBG reúne empresários, conselheiros, metodologia, acompanhamento e ambiente estratégico para ajudar empresas a sair de um modelo dependente do dono e evoluir para uma estrutura mais organizada, previsível e escalável.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714875" y="857250"/>
            <a:ext cx="40005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C9A84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RBG não é: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57750" y="1164431"/>
            <a:ext cx="3857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empresarial social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857750" y="1457325"/>
            <a:ext cx="3857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Clube de networking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857750" y="1750219"/>
            <a:ext cx="3857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de palestras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57750" y="2043113"/>
            <a:ext cx="3857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Mentoria coletiva genérica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857750" y="2336006"/>
            <a:ext cx="3857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Consultoria tradicional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714875" y="2714625"/>
            <a:ext cx="40005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C9A84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RBG é: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57750" y="3021806"/>
            <a:ext cx="3857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empresarial estratégica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57750" y="3314700"/>
            <a:ext cx="3857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Ecossistema privado de crescimento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857750" y="3607594"/>
            <a:ext cx="3857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Conselho multidisciplinar ativo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57750" y="3900488"/>
            <a:ext cx="3857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Jornada prática de evolução empresarial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57750" y="4193381"/>
            <a:ext cx="385762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de execução e acompanhamento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GRANDE TESE DO PROJETO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303734"/>
            <a:ext cx="4308211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Empresas não quebram apenas por falta de mercado.
 </a:t>
            </a:r>
            <a:r>
              <a:rPr lang="en-US" sz="16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Elas quebram porque crescem sem estrutura.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28625" y="3454003"/>
            <a:ext cx="430821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kern="0" spc="2" dirty="0">
                <a:solidFill>
                  <a:srgbClr val="F8F9FA">
                    <a:alpha val="60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TESE CENTRAL DO RBG: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28625" y="3725466"/>
            <a:ext cx="430821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kern="0" spc="2" dirty="0">
                <a:solidFill>
                  <a:srgbClr val="F8F9FA">
                    <a:alpha val="60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EMPRESAS PRECISAM DE ESTRUTURA ANTES DE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28625" y="3996928"/>
            <a:ext cx="430821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kern="0" spc="2" dirty="0">
                <a:solidFill>
                  <a:srgbClr val="F8F9FA">
                    <a:alpha val="60000"/>
                  </a:srgbClr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ESCALA.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165461" y="1560909"/>
            <a:ext cx="3549914" cy="245030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165461" y="1560909"/>
            <a:ext cx="28575" cy="245030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80667" y="1775222"/>
            <a:ext cx="312039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crescimento desorganizado gera: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80667" y="2125266"/>
            <a:ext cx="150660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Descontrole financeiro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994429" y="2125266"/>
            <a:ext cx="150663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Sobrecarga do empresário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380667" y="2543175"/>
            <a:ext cx="150660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de previsibilidade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994429" y="2543175"/>
            <a:ext cx="150663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frágil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380667" y="2961084"/>
            <a:ext cx="150660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desalinhado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94429" y="2961084"/>
            <a:ext cx="1506634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Comercial inconsistente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380667" y="3378994"/>
            <a:ext cx="150660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de governança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994429" y="3378994"/>
            <a:ext cx="150663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Retrabalho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380667" y="3641527"/>
            <a:ext cx="150660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Margem comprimida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94429" y="3641527"/>
            <a:ext cx="150663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Colapso operacional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PROBLEMA CENTRAL DO EMPRESÁRIO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410891"/>
            <a:ext cx="8286750" cy="2750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empresário normalmente: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Centraliza decisões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problemas operacionais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Gerencia pessoas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Cuida do financeiro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Tenta crescer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Apaga incêndios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início isso funciona.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Depois se torna o maior gargalo da empresa.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empresário deixa de liderar o crescimento e passa a sustentar o caos operacional.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SINTOMAS DE EMPRESAS DESORGANIZADAS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071563"/>
            <a:ext cx="4000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 depende do dono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714875" y="1071563"/>
            <a:ext cx="4000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sem clareza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28625" y="1421606"/>
            <a:ext cx="4000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rotina executiva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14875" y="1421606"/>
            <a:ext cx="4000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 reativa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28625" y="1771650"/>
            <a:ext cx="4000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Comercial sem previsibilidade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14875" y="1771650"/>
            <a:ext cx="4000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 frágeis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28625" y="2121694"/>
            <a:ext cx="4000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Financeiro sem indicadores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714875" y="2121694"/>
            <a:ext cx="4000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de acompanhamento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28625" y="2471738"/>
            <a:ext cx="4000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 sem margem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714875" y="2471738"/>
            <a:ext cx="40005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Decisões emocionais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28625" y="3171825"/>
            <a:ext cx="8286750" cy="1328738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28625" y="3171825"/>
            <a:ext cx="42863" cy="132873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2938" y="3386138"/>
            <a:ext cx="7858125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não é apenas vender mais.
 </a:t>
            </a: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problema é estruturar a empresa.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48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14313"/>
            <a:ext cx="8286750" cy="39826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LACUNA DO MERCADO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428625" y="928688"/>
            <a:ext cx="4000500" cy="27445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928688"/>
            <a:ext cx="4000500" cy="285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2938" y="1143000"/>
            <a:ext cx="3571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MERCADO OFERECE: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2938" y="1493044"/>
            <a:ext cx="35718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2938" y="1815936"/>
            <a:ext cx="35718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2938" y="2138828"/>
            <a:ext cx="35718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2938" y="2461720"/>
            <a:ext cx="35718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Mentorias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2938" y="2784611"/>
            <a:ext cx="35718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2938" y="3107503"/>
            <a:ext cx="35718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Consultorias pontuais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14875" y="928688"/>
            <a:ext cx="4000500" cy="27445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14875" y="928688"/>
            <a:ext cx="4000500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29188" y="1156590"/>
            <a:ext cx="357187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MAS QUASE NINGUÉM ENTREGA: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29188" y="1506634"/>
            <a:ext cx="35718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929188" y="1829526"/>
            <a:ext cx="35718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Estruturação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929188" y="2152417"/>
            <a:ext cx="35718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Conselho estratégico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929188" y="2475309"/>
            <a:ext cx="35718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929188" y="2798201"/>
            <a:ext cx="35718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Cobrança de execução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929188" y="3121093"/>
            <a:ext cx="3571875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5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mensurável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28625" y="3944048"/>
            <a:ext cx="8286750" cy="542925"/>
          </a:xfrm>
          <a:prstGeom prst="rect">
            <a:avLst/>
          </a:prstGeom>
          <a:solidFill>
            <a:srgbClr val="C9A84C">
              <a:alpha val="10000"/>
            </a:srgbClr>
          </a:solidFill>
          <a:ln w="9144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28625" y="3944048"/>
            <a:ext cx="8286750" cy="54292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RBG ocupa exatamente essa lacuna.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QUE O RBG NÃO É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675991"/>
            <a:ext cx="828675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RBG não é: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28625" y="2081733"/>
            <a:ext cx="400050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Clube empresarial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28625" y="2444614"/>
            <a:ext cx="400050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social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8625" y="2807494"/>
            <a:ext cx="400050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 de networking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14875" y="2081733"/>
            <a:ext cx="400050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 motivacional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14875" y="2444614"/>
            <a:ext cx="400050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Mentoria genérica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14875" y="2807494"/>
            <a:ext cx="4000500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de palco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28625" y="3256099"/>
            <a:ext cx="82867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o mercado enxergar o RBG como mais um grupo empresarial, o valor percebido cai. Se for visto como infraestrutura privada de crescimento, o valor percebido sobe.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QUE O RBG É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000125"/>
            <a:ext cx="82867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RBG é: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28625" y="1328738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privada de crescimento empresarial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8625" y="1697338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Conselho estratégico multidisciplinar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8625" y="2065939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Ecossistema seletivo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28625" y="2434540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de evolução empresarial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8625" y="2803141"/>
            <a:ext cx="828675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de acompanhamento e execução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8625" y="3386054"/>
            <a:ext cx="8286750" cy="869752"/>
          </a:xfrm>
          <a:prstGeom prst="rect">
            <a:avLst/>
          </a:prstGeom>
          <a:solidFill>
            <a:srgbClr val="C9A84C">
              <a:alpha val="5000"/>
            </a:srgbClr>
          </a:solidFill>
          <a:ln w="18288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1500" y="3528929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kern="0" spc="1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MODELO COMBINA: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71500" y="3807535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Método + Conselho + Execução + Ambiente + Evolução.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POSICIONAMENTO CENTRAL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535906" y="1577541"/>
            <a:ext cx="60721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2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ROYAL BUSINESS GROWTH (RBG)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600200" y="2134753"/>
            <a:ext cx="59436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kern="0" spc="1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Infraestrutura Privada de Crescimento Empresarial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57313" y="2768761"/>
            <a:ext cx="6429375" cy="1225823"/>
          </a:xfrm>
          <a:prstGeom prst="rect">
            <a:avLst/>
          </a:prstGeom>
          <a:noFill/>
          <a:ln/>
        </p:spPr>
        <p:txBody>
          <a:bodyPr wrap="square" lIns="0" tIns="340233" rIns="0" bIns="340233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500" dirty="0">
                <a:solidFill>
                  <a:srgbClr val="F8F9F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empresas que precisam deixar de operar no improviso e passar a crescer com estrutura, gestão, clareza e previsibilidade.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PROMESSA INSTITUCIONAL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071563"/>
            <a:ext cx="82867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E6394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 RBG não promete milagre.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845123" y="1549301"/>
            <a:ext cx="145375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RBG ENTREGA: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000125" y="1899345"/>
            <a:ext cx="2286000" cy="49649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00125" y="1899345"/>
            <a:ext cx="2286000" cy="2143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00125" y="1899345"/>
            <a:ext cx="2286000" cy="4964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Clareza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899345"/>
            <a:ext cx="2286000" cy="49649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29000" y="1899345"/>
            <a:ext cx="2286000" cy="2143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29000" y="1899345"/>
            <a:ext cx="2286000" cy="4964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7875" y="1899345"/>
            <a:ext cx="2286000" cy="49649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57875" y="1899345"/>
            <a:ext cx="2286000" cy="2143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57875" y="1899345"/>
            <a:ext cx="2286000" cy="4964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Direção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00125" y="2527995"/>
            <a:ext cx="2286000" cy="49649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00125" y="2527995"/>
            <a:ext cx="2286000" cy="2143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00125" y="2527995"/>
            <a:ext cx="2286000" cy="4964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Acompanhamento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429000" y="2527995"/>
            <a:ext cx="2286000" cy="49649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429000" y="2527995"/>
            <a:ext cx="2286000" cy="2143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429000" y="2527995"/>
            <a:ext cx="2286000" cy="4964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Organização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57875" y="2527995"/>
            <a:ext cx="2286000" cy="49649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857875" y="2527995"/>
            <a:ext cx="2286000" cy="2143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857875" y="2527995"/>
            <a:ext cx="2286000" cy="49649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Evolução empresarial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28625" y="3270052"/>
            <a:ext cx="8286750" cy="1230511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28625" y="3270052"/>
            <a:ext cx="42863" cy="123051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2938" y="3484364"/>
            <a:ext cx="78581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PROMESSA CORRETA: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42938" y="3729038"/>
            <a:ext cx="785812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ajudar empresas a evoluírem sua maturidade operacional e estratégica em um ciclo estruturado de 120 dias.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PERFIL DAS EMPRESAS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071563"/>
            <a:ext cx="82867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Empresas ideais: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8625" y="1457325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457325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" y="1564481"/>
            <a:ext cx="102334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Já operando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79156" y="1457325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79156" y="1457325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22031" y="1564481"/>
            <a:ext cx="141267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faturamento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625" y="1985963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8625" y="1985963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1500" y="2093119"/>
            <a:ext cx="13001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crescimento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79156" y="1985963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79156" y="1985963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22031" y="2093119"/>
            <a:ext cx="166628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gargalos claros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8625" y="2514600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28625" y="2514600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" y="2621756"/>
            <a:ext cx="157876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Abertas à mudança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679156" y="2514600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79156" y="2514600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22031" y="2621756"/>
            <a:ext cx="246102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capacidade de execução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28625" y="3150394"/>
            <a:ext cx="8286750" cy="928688"/>
          </a:xfrm>
          <a:prstGeom prst="rect">
            <a:avLst/>
          </a:prstGeom>
          <a:solidFill>
            <a:srgbClr val="C9A84C">
              <a:alpha val="5000"/>
            </a:srgbClr>
          </a:solidFill>
          <a:ln w="9144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723430" y="3320058"/>
            <a:ext cx="569714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RBG não deve aceitar empresas apenas para preencher turma.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71500" y="3643313"/>
            <a:ext cx="80010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Seleção é parte do valor.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QUEM NÃO DEVE ENTRAR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143000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143000"/>
            <a:ext cx="28575" cy="421481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1500" y="1250156"/>
            <a:ext cx="168771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Ideias sem operação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679156" y="1143000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679156" y="1143000"/>
            <a:ext cx="28575" cy="421481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22031" y="1250156"/>
            <a:ext cx="178772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Empresas sem receita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8625" y="1671638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8625" y="1671638"/>
            <a:ext cx="28575" cy="421481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1500" y="1778794"/>
            <a:ext cx="223242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Empresários sem execução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79156" y="1671638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79156" y="1671638"/>
            <a:ext cx="28575" cy="421481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22031" y="1778794"/>
            <a:ext cx="313432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Pessoas buscando apenas networking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8625" y="2200275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28625" y="2200275"/>
            <a:ext cx="28575" cy="421481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1500" y="2307431"/>
            <a:ext cx="245030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Empresas sem clareza mínima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679156" y="2200275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79156" y="2200275"/>
            <a:ext cx="28575" cy="421481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22031" y="2307431"/>
            <a:ext cx="29360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Participantes resistentes a mudança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28625" y="2836069"/>
            <a:ext cx="8286750" cy="542925"/>
          </a:xfrm>
          <a:prstGeom prst="rect">
            <a:avLst/>
          </a:prstGeom>
          <a:solidFill>
            <a:srgbClr val="C9A84C">
              <a:alpha val="5000"/>
            </a:srgbClr>
          </a:solidFill>
          <a:ln w="9144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71500" y="2978944"/>
            <a:ext cx="80010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394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RBG precisa ser difícil de entrar.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PROPOSTA DE VALOR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071563"/>
            <a:ext cx="82867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 RBG oferece: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8625" y="1457325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457325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" y="1581448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4967" y="1564481"/>
            <a:ext cx="19573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empresarial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79156" y="1457325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79156" y="1457325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22031" y="1581448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15499" y="1564481"/>
            <a:ext cx="14573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de gargalos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8625" y="1985963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8625" y="1985963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1500" y="2110085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64967" y="2093119"/>
            <a:ext cx="172521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Conselho estratégico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679156" y="1985963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79156" y="1985963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22031" y="2110085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15499" y="2093119"/>
            <a:ext cx="203418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Estruturação operacional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28625" y="2514600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28625" y="2514600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71500" y="2638723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64967" y="2621756"/>
            <a:ext cx="188237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de indicadores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679156" y="2514600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679156" y="2514600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22031" y="2638723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15499" y="2621756"/>
            <a:ext cx="167520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Plano de prioridades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28625" y="3043238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28625" y="3043238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71500" y="3167360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64967" y="3150394"/>
            <a:ext cx="230921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executivo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679156" y="3043238"/>
            <a:ext cx="4036219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679156" y="3043238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822031" y="3167360"/>
            <a:ext cx="863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015499" y="3150394"/>
            <a:ext cx="290214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empresarial documentada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OS CINCO PILARES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2428875" y="1490365"/>
            <a:ext cx="4286250" cy="48398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2428875" y="1490365"/>
            <a:ext cx="42863" cy="48398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600325" y="1576090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057525" y="1576090"/>
            <a:ext cx="1993106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2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428875" y="2017216"/>
            <a:ext cx="4286250" cy="48398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428875" y="2017216"/>
            <a:ext cx="42863" cy="48398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600325" y="2102941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057525" y="2102941"/>
            <a:ext cx="1712714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2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ESTRUTURA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428875" y="2544068"/>
            <a:ext cx="4286250" cy="48398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428875" y="2544068"/>
            <a:ext cx="42863" cy="48398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600325" y="2629793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057525" y="2629793"/>
            <a:ext cx="125372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2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DIREÇÃO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428875" y="3070920"/>
            <a:ext cx="4286250" cy="48398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428875" y="3070920"/>
            <a:ext cx="42863" cy="48398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600325" y="3156645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057525" y="3156645"/>
            <a:ext cx="157162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2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EXECUÇÃO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2428875" y="3597771"/>
            <a:ext cx="4286250" cy="48398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428875" y="3597771"/>
            <a:ext cx="42863" cy="48398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600325" y="3683496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057525" y="3683496"/>
            <a:ext cx="1557338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2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EVOLUÇÃO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METODOLOGIA RBG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143000"/>
            <a:ext cx="82867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Método RBG de Maturidade Empresarial.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28625" y="1491258"/>
            <a:ext cx="82867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DIMENSÕES: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28625" y="1984177"/>
            <a:ext cx="1964531" cy="857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28625" y="1984177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93874" y="2309217"/>
            <a:ext cx="83403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Estratégia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36031" y="1984177"/>
            <a:ext cx="1964531" cy="857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536031" y="1984177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24510" y="2309217"/>
            <a:ext cx="58757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Gestão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43438" y="1984177"/>
            <a:ext cx="1964531" cy="857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43438" y="1984177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251549" y="2309217"/>
            <a:ext cx="74830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Finanças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50844" y="1984177"/>
            <a:ext cx="1964531" cy="857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750844" y="1984177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4307" y="2309217"/>
            <a:ext cx="83760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Comercial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8625" y="2984302"/>
            <a:ext cx="1964531" cy="857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28625" y="2984302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06376" y="3309342"/>
            <a:ext cx="80903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Operação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536031" y="2984302"/>
            <a:ext cx="1964531" cy="857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536031" y="2984302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169146" y="3309342"/>
            <a:ext cx="69830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Pessoas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43438" y="2984302"/>
            <a:ext cx="1964531" cy="857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643438" y="2984302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191720" y="3309342"/>
            <a:ext cx="86796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Processos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750844" y="2984302"/>
            <a:ext cx="1964531" cy="8572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750844" y="2984302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205365" y="3309342"/>
            <a:ext cx="105548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Crescimento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149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MATRIZ DE MATURIDADE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2071688" y="1107281"/>
            <a:ext cx="5000625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2071688" y="1107281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250281" y="1214438"/>
            <a:ext cx="1000125" cy="385763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250281" y="1214438"/>
            <a:ext cx="1000125" cy="385763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42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Nível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464719" y="1268909"/>
            <a:ext cx="85367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Reativo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071688" y="1814513"/>
            <a:ext cx="5000625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071688" y="1814513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250281" y="1921669"/>
            <a:ext cx="1000125" cy="385763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50281" y="1921669"/>
            <a:ext cx="1000125" cy="385763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42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Nível 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64719" y="1976140"/>
            <a:ext cx="1309092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Organizado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071688" y="2521744"/>
            <a:ext cx="5000625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071688" y="2521744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250281" y="2628900"/>
            <a:ext cx="1000125" cy="385763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250281" y="2628900"/>
            <a:ext cx="1000125" cy="385763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42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Nível 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464719" y="2683371"/>
            <a:ext cx="134481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Estruturado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071688" y="3228975"/>
            <a:ext cx="5000625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071688" y="3228975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250281" y="3336131"/>
            <a:ext cx="1000125" cy="385763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250281" y="3336131"/>
            <a:ext cx="1000125" cy="385763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42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Nível 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464719" y="3390602"/>
            <a:ext cx="107513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Escalável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071688" y="3936206"/>
            <a:ext cx="5000625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071688" y="3936206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250281" y="4043363"/>
            <a:ext cx="1000125" cy="385763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250281" y="4043363"/>
            <a:ext cx="1000125" cy="385763"/>
          </a:xfrm>
          <a:prstGeom prst="rect">
            <a:avLst/>
          </a:prstGeom>
          <a:noFill/>
          <a:ln/>
        </p:spPr>
        <p:txBody>
          <a:bodyPr wrap="none" lIns="170053" tIns="85090" rIns="170053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42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Nível 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464719" y="4097834"/>
            <a:ext cx="140910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Institucional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0" y="4786313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0" y="4786313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28625" y="4939903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93469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DIAGNÓSTICO EMPRESARIAL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028700"/>
            <a:ext cx="82867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Avaliações: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8625" y="1414463"/>
            <a:ext cx="4071938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414463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2925" y="1500188"/>
            <a:ext cx="6000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43438" y="1414463"/>
            <a:ext cx="4071938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43438" y="1414463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57738" y="1500188"/>
            <a:ext cx="66794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625" y="1878806"/>
            <a:ext cx="4071938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8625" y="1878806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2925" y="1964531"/>
            <a:ext cx="81617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Comercial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43438" y="1878806"/>
            <a:ext cx="4071938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43438" y="1878806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57738" y="1964531"/>
            <a:ext cx="79652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8625" y="2343150"/>
            <a:ext cx="4071938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28625" y="2343150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2925" y="2428875"/>
            <a:ext cx="80188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Liderança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643438" y="2343150"/>
            <a:ext cx="4071938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43438" y="2343150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57738" y="2428875"/>
            <a:ext cx="84653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Financeiro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28625" y="2807494"/>
            <a:ext cx="4071938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28625" y="2807494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42925" y="2893219"/>
            <a:ext cx="1964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organizacional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643438" y="2807494"/>
            <a:ext cx="4071938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43438" y="2807494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757738" y="2893219"/>
            <a:ext cx="84832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28625" y="3328988"/>
            <a:ext cx="8286750" cy="841177"/>
          </a:xfrm>
          <a:prstGeom prst="rect">
            <a:avLst/>
          </a:prstGeom>
          <a:solidFill>
            <a:srgbClr val="C9A84C">
              <a:alpha val="5000"/>
            </a:srgbClr>
          </a:solidFill>
          <a:ln w="9144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71500" y="3471863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F9FA">
                    <a:alpha val="80000"/>
                  </a:srgbClr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Entregável: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71500" y="3736181"/>
            <a:ext cx="80010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RELATÓRIO ESTRATÉGICO RBG.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MAPA DE GARGALOS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107281"/>
            <a:ext cx="40005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Classificação: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8625" y="1493044"/>
            <a:ext cx="4000500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493044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" y="1578769"/>
            <a:ext cx="91261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Estratégico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8625" y="1957388"/>
            <a:ext cx="4000500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8625" y="1957388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71500" y="2043113"/>
            <a:ext cx="81617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Comercial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625" y="2421731"/>
            <a:ext cx="4000500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8625" y="2421731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1500" y="2507456"/>
            <a:ext cx="84653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Financeiro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28625" y="2886075"/>
            <a:ext cx="4000500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28625" y="2886075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1500" y="2971800"/>
            <a:ext cx="9786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8625" y="3350419"/>
            <a:ext cx="4000500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28625" y="3350419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" y="3436144"/>
            <a:ext cx="80188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Liderança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28625" y="3814763"/>
            <a:ext cx="4000500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814763"/>
            <a:ext cx="28575" cy="378619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71500" y="3900488"/>
            <a:ext cx="73402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714875" y="1107281"/>
            <a:ext cx="40005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Cada gargalo recebe: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714875" y="1493044"/>
            <a:ext cx="4000500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14875" y="1493044"/>
            <a:ext cx="28575" cy="378619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57750" y="1578769"/>
            <a:ext cx="65543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4714875" y="1957388"/>
            <a:ext cx="4000500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714875" y="1957388"/>
            <a:ext cx="28575" cy="378619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57750" y="2043113"/>
            <a:ext cx="73044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Urgência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714875" y="2421731"/>
            <a:ext cx="4000500" cy="37861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714875" y="2421731"/>
            <a:ext cx="28575" cy="378619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57750" y="2507456"/>
            <a:ext cx="83403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PLANO DE PRIORIDADES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143000"/>
            <a:ext cx="82867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empresa sai com: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8625" y="1600200"/>
            <a:ext cx="4036219" cy="51077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600200"/>
            <a:ext cx="28575" cy="51077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7219" y="1752005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17931" y="1743075"/>
            <a:ext cx="2066330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prioridades principais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79156" y="1600200"/>
            <a:ext cx="4036219" cy="51077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79156" y="1600200"/>
            <a:ext cx="28575" cy="51077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57750" y="1752005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68463" y="1743075"/>
            <a:ext cx="1184077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Ações táticas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8625" y="2253853"/>
            <a:ext cx="4036219" cy="51077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8625" y="2253853"/>
            <a:ext cx="28575" cy="51077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7219" y="2405658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17931" y="2396728"/>
            <a:ext cx="1207294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Responsáveis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79156" y="2253853"/>
            <a:ext cx="4036219" cy="51077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79156" y="2253853"/>
            <a:ext cx="28575" cy="51077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57750" y="2405658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68463" y="2396728"/>
            <a:ext cx="1026914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8625" y="2907506"/>
            <a:ext cx="4036219" cy="51077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28625" y="2907506"/>
            <a:ext cx="28575" cy="51077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07219" y="3059311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17931" y="3050381"/>
            <a:ext cx="59828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Prazos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679156" y="2907506"/>
            <a:ext cx="4036219" cy="51077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679156" y="2907506"/>
            <a:ext cx="28575" cy="51077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57750" y="3059311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068463" y="3050381"/>
            <a:ext cx="186451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Critérios de evolução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CONSELHO ESTRATÉGICO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853803"/>
            <a:ext cx="40005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Funções: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28625" y="2239566"/>
            <a:ext cx="1946672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2239566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" y="2346722"/>
            <a:ext cx="101977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Diagnosticar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482453" y="2239566"/>
            <a:ext cx="1946672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482453" y="2239566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625328" y="2346722"/>
            <a:ext cx="8858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Questionar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8625" y="2768203"/>
            <a:ext cx="1946672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8625" y="2768203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1500" y="2875359"/>
            <a:ext cx="83046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Direcionar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482453" y="2768203"/>
            <a:ext cx="1946672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482453" y="2768203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625328" y="2875359"/>
            <a:ext cx="54113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28625" y="3296841"/>
            <a:ext cx="1946672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28625" y="3296841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" y="3403997"/>
            <a:ext cx="6143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Corrigir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482453" y="3296841"/>
            <a:ext cx="1946672" cy="42148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482453" y="3296841"/>
            <a:ext cx="28575" cy="42148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625328" y="3403997"/>
            <a:ext cx="103763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4714875" y="1703784"/>
            <a:ext cx="4000500" cy="2164556"/>
          </a:xfrm>
          <a:prstGeom prst="rect">
            <a:avLst/>
          </a:prstGeom>
          <a:solidFill>
            <a:srgbClr val="C9A84C">
              <a:alpha val="5000"/>
            </a:srgbClr>
          </a:solidFill>
          <a:ln w="18288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43513" y="2035969"/>
            <a:ext cx="294322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7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conselho não existe para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270427" y="2378869"/>
            <a:ext cx="88939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700" dirty="0">
                <a:solidFill>
                  <a:srgbClr val="F8F9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agradar.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000625" y="2796778"/>
            <a:ext cx="3429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63946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EXISTE PARA GERAR EVOLUÇÃO.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ÁREAS DO CONSELHO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143000"/>
            <a:ext cx="1964531" cy="10001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143000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58155" y="1530548"/>
            <a:ext cx="90547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Estratégia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36031" y="1143000"/>
            <a:ext cx="1964531" cy="10001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536031" y="1143000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062883" y="1530548"/>
            <a:ext cx="910828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Comercial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43438" y="1143000"/>
            <a:ext cx="1964531" cy="10001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43438" y="1143000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219402" y="1530548"/>
            <a:ext cx="812602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Finanças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750844" y="1143000"/>
            <a:ext cx="1964531" cy="10001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750844" y="1143000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287518" y="1530548"/>
            <a:ext cx="89118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Liderança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28625" y="2286000"/>
            <a:ext cx="1964531" cy="10001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28625" y="2286000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71550" y="2673548"/>
            <a:ext cx="87868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Operação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536031" y="2286000"/>
            <a:ext cx="1964531" cy="10001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536031" y="2286000"/>
            <a:ext cx="1964531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971800" y="2673548"/>
            <a:ext cx="1092994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Governança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536031" y="3429000"/>
            <a:ext cx="4071938" cy="10001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536031" y="3429000"/>
            <a:ext cx="4071938" cy="285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998714" y="3816548"/>
            <a:ext cx="1146572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Crescimento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ESTRUTURA DO CONSELHO ESTRATÉGICO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284201"/>
            <a:ext cx="2690794" cy="144828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284201"/>
            <a:ext cx="2690794" cy="2143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5781" y="1391357"/>
            <a:ext cx="24764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LÚCIO SANTANA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35781" y="1582452"/>
            <a:ext cx="247648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Idealizador, Owner e Direção Institucional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42938" y="1896777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Expansão institucional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642938" y="2038201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Relações estratégicas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42938" y="2179625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Posicionamento institucional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642938" y="2321049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Conexões empresariais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642938" y="2462473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do ecossistema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3226575" y="1284201"/>
            <a:ext cx="2690822" cy="144828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26575" y="1284201"/>
            <a:ext cx="2690822" cy="2143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33731" y="1391357"/>
            <a:ext cx="247650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ALEXANDRE MEDEIROS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33731" y="1582452"/>
            <a:ext cx="247650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Liderança Executiva e Arquitetura Estratégica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440888" y="1896777"/>
            <a:ext cx="23693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geral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440888" y="2038201"/>
            <a:ext cx="23693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operacional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3440888" y="2179625"/>
            <a:ext cx="23693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Coordenação do ecossistema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3440888" y="2321049"/>
            <a:ext cx="23693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Curadoria das empresas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440888" y="2462473"/>
            <a:ext cx="23693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Direção da jornada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6024553" y="1284201"/>
            <a:ext cx="2690794" cy="144828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024553" y="1284201"/>
            <a:ext cx="2690794" cy="2143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31709" y="1402073"/>
            <a:ext cx="24764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CARLOS OSORIO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31709" y="1593168"/>
            <a:ext cx="247648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Governança Financeira e Performance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238866" y="1907493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6238866" y="2048917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financeiro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6238866" y="2190341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Margem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6238866" y="2331765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Sustentabilidade de crescimento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6238866" y="2473189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de performance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428625" y="2828925"/>
            <a:ext cx="2690794" cy="144828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28625" y="2828925"/>
            <a:ext cx="2690794" cy="2143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35781" y="2936081"/>
            <a:ext cx="24764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FERNANDO ALVES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35781" y="3127177"/>
            <a:ext cx="247648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Estratégia Comercial e Crescimento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42938" y="3441502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Comercial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642938" y="3582925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Posicionamento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642938" y="3724349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642938" y="3865773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Aquisição de clientes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642938" y="4007197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de vendas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3226575" y="2828925"/>
            <a:ext cx="2690822" cy="144828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3226575" y="2828925"/>
            <a:ext cx="2690822" cy="2143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333731" y="2936081"/>
            <a:ext cx="247650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KAMILA ADAMATTI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333731" y="3127177"/>
            <a:ext cx="247650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Liderança e Gestão Organizacional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3440888" y="3441502"/>
            <a:ext cx="23693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3440888" y="3582925"/>
            <a:ext cx="23693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Liderança</a:t>
            </a:r>
            <a:endParaRPr lang="en-US" sz="600" dirty="0"/>
          </a:p>
        </p:txBody>
      </p:sp>
      <p:sp>
        <p:nvSpPr>
          <p:cNvPr id="46" name="Text 43"/>
          <p:cNvSpPr/>
          <p:nvPr/>
        </p:nvSpPr>
        <p:spPr>
          <a:xfrm>
            <a:off x="3440888" y="3724349"/>
            <a:ext cx="23693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organizacional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3440888" y="3865773"/>
            <a:ext cx="23693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humano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3440888" y="4007197"/>
            <a:ext cx="236935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Clareza de responsabilidades</a:t>
            </a:r>
            <a:endParaRPr lang="en-US" sz="600" dirty="0"/>
          </a:p>
        </p:txBody>
      </p:sp>
      <p:sp>
        <p:nvSpPr>
          <p:cNvPr id="49" name="Shape 46"/>
          <p:cNvSpPr/>
          <p:nvPr/>
        </p:nvSpPr>
        <p:spPr>
          <a:xfrm>
            <a:off x="6024553" y="2828925"/>
            <a:ext cx="2690794" cy="144828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6024553" y="2828925"/>
            <a:ext cx="2690794" cy="21431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131709" y="2946797"/>
            <a:ext cx="24764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ALEX ZOCCHE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131709" y="3137892"/>
            <a:ext cx="247648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Processos Corporativos e Operação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6238866" y="3452217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operacional</a:t>
            </a:r>
            <a:endParaRPr lang="en-US" sz="600" dirty="0"/>
          </a:p>
        </p:txBody>
      </p:sp>
      <p:sp>
        <p:nvSpPr>
          <p:cNvPr id="54" name="Text 51"/>
          <p:cNvSpPr/>
          <p:nvPr/>
        </p:nvSpPr>
        <p:spPr>
          <a:xfrm>
            <a:off x="6238866" y="3593641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</a:t>
            </a:r>
            <a:endParaRPr lang="en-US" sz="600" dirty="0"/>
          </a:p>
        </p:txBody>
      </p:sp>
      <p:sp>
        <p:nvSpPr>
          <p:cNvPr id="55" name="Text 52"/>
          <p:cNvSpPr/>
          <p:nvPr/>
        </p:nvSpPr>
        <p:spPr>
          <a:xfrm>
            <a:off x="6238866" y="3735065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Fluxos internos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6238866" y="3876489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Eficiência</a:t>
            </a:r>
            <a:endParaRPr lang="en-US" sz="600" dirty="0"/>
          </a:p>
        </p:txBody>
      </p:sp>
      <p:sp>
        <p:nvSpPr>
          <p:cNvPr id="57" name="Text 54"/>
          <p:cNvSpPr/>
          <p:nvPr/>
        </p:nvSpPr>
        <p:spPr>
          <a:xfrm>
            <a:off x="6238866" y="4017913"/>
            <a:ext cx="23693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127000" indent="-127000" algn="l">
              <a:lnSpc>
                <a:spcPct val="112000"/>
              </a:lnSpc>
              <a:buSzPct val="100000"/>
              <a:buChar char="•"/>
            </a:pPr>
            <a:r>
              <a:rPr lang="en-US" sz="600" dirty="0">
                <a:solidFill>
                  <a:srgbClr val="F8F9FA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Escalabilidade operacional</a:t>
            </a:r>
            <a:endParaRPr lang="en-US" sz="600" dirty="0"/>
          </a:p>
        </p:txBody>
      </p:sp>
      <p:sp>
        <p:nvSpPr>
          <p:cNvPr id="58" name="Shape 55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6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PROCESSO DE ENTRADA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657350"/>
            <a:ext cx="4000500" cy="4572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657350"/>
            <a:ext cx="28575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7219" y="1764506"/>
            <a:ext cx="2500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0125" y="1773436"/>
            <a:ext cx="83046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Inscrição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14875" y="1657350"/>
            <a:ext cx="4000500" cy="4572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14875" y="1657350"/>
            <a:ext cx="28575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93469" y="1764506"/>
            <a:ext cx="2500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86375" y="1773436"/>
            <a:ext cx="123586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Análise inicial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8625" y="2257425"/>
            <a:ext cx="4000500" cy="4572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8625" y="2257425"/>
            <a:ext cx="28575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7219" y="2364581"/>
            <a:ext cx="2500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0125" y="2373511"/>
            <a:ext cx="131087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Dia de seleção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14875" y="2257425"/>
            <a:ext cx="4000500" cy="4572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14875" y="2257425"/>
            <a:ext cx="28575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893469" y="2364581"/>
            <a:ext cx="2500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286375" y="2373511"/>
            <a:ext cx="201632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Avaliação do conselho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8625" y="2857500"/>
            <a:ext cx="4000500" cy="4572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2857500"/>
            <a:ext cx="28575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7219" y="2964656"/>
            <a:ext cx="2500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00125" y="2973586"/>
            <a:ext cx="107692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Deliberação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14875" y="2857500"/>
            <a:ext cx="4000500" cy="4572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14875" y="2857500"/>
            <a:ext cx="28575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93469" y="2964656"/>
            <a:ext cx="2500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286375" y="2973586"/>
            <a:ext cx="975122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Aprovação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28625" y="3457575"/>
            <a:ext cx="4000500" cy="4572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28625" y="3457575"/>
            <a:ext cx="28575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07219" y="3564731"/>
            <a:ext cx="2500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00125" y="3573661"/>
            <a:ext cx="1069777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714875" y="3457575"/>
            <a:ext cx="4000500" cy="4572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714875" y="3457575"/>
            <a:ext cx="28575" cy="45720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893469" y="3564731"/>
            <a:ext cx="2500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286375" y="3573661"/>
            <a:ext cx="1480542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Início da jornada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CRITÉRIOS DE SELEÇÃO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550194"/>
            <a:ext cx="4000500" cy="51077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550194"/>
            <a:ext cx="28575" cy="51077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7219" y="1701998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53650" y="1693069"/>
            <a:ext cx="1155502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Receita ativa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14875" y="1550194"/>
            <a:ext cx="4000500" cy="51077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14875" y="1550194"/>
            <a:ext cx="28575" cy="51077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93469" y="1701998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139900" y="1693069"/>
            <a:ext cx="2269927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Potencial de crescimento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8625" y="2203847"/>
            <a:ext cx="4000500" cy="51077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8625" y="2203847"/>
            <a:ext cx="28575" cy="51077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7219" y="2355652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53650" y="2346722"/>
            <a:ext cx="179129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Clareza empresarial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14875" y="2203847"/>
            <a:ext cx="4000500" cy="51077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14875" y="2203847"/>
            <a:ext cx="28575" cy="51077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893469" y="2355652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139900" y="2346722"/>
            <a:ext cx="2269927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Capacidade de execução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8625" y="2857500"/>
            <a:ext cx="4000500" cy="51077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2857500"/>
            <a:ext cx="28575" cy="51077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7219" y="3009305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53650" y="3000375"/>
            <a:ext cx="1526977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Estrutura mínima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14875" y="2857500"/>
            <a:ext cx="4000500" cy="51077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14875" y="2857500"/>
            <a:ext cx="28575" cy="51077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93469" y="3009305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139900" y="3000375"/>
            <a:ext cx="89118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Liderança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2571750" y="3511153"/>
            <a:ext cx="4000500" cy="51077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571750" y="3511153"/>
            <a:ext cx="28575" cy="510778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750344" y="3662958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2996775" y="3654028"/>
            <a:ext cx="213240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Abertura para mudança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REGRAS DE PERMANÊNCIA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28625" y="1190327"/>
            <a:ext cx="82867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 empresa deve: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28625" y="1681460"/>
            <a:ext cx="8286750" cy="4714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681460"/>
            <a:ext cx="28575" cy="47148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2938" y="1813620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89369" y="1795760"/>
            <a:ext cx="93404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Participar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8625" y="2238673"/>
            <a:ext cx="8286750" cy="4714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2238673"/>
            <a:ext cx="28575" cy="47148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2938" y="2370832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89369" y="2352973"/>
            <a:ext cx="85546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Executar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28625" y="2795885"/>
            <a:ext cx="8286750" cy="4714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8625" y="2795885"/>
            <a:ext cx="28575" cy="47148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2938" y="2928045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89369" y="2910185"/>
            <a:ext cx="252531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Compartilhar informações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8625" y="3353098"/>
            <a:ext cx="8286750" cy="4714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28625" y="3353098"/>
            <a:ext cx="28575" cy="47148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2938" y="3485257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89369" y="3467398"/>
            <a:ext cx="66258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Evoluir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8625" y="3910310"/>
            <a:ext cx="8286750" cy="47148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28625" y="3910310"/>
            <a:ext cx="28575" cy="47148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2938" y="4042470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E6394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89369" y="4024610"/>
            <a:ext cx="233243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Respeitar a metodologia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ENTREGÁVEIS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707356"/>
            <a:ext cx="4000500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707356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2938" y="1903809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89369" y="1885950"/>
            <a:ext cx="115193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14875" y="1707356"/>
            <a:ext cx="4000500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14875" y="1707356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29188" y="1903809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175619" y="1885950"/>
            <a:ext cx="19859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Plano de prioridades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8625" y="2486025"/>
            <a:ext cx="4000500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8625" y="2486025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2938" y="2682478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89369" y="2664619"/>
            <a:ext cx="21431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Reuniões estratégicas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714875" y="2486025"/>
            <a:ext cx="4000500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14875" y="2486025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29188" y="2682478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175619" y="2664619"/>
            <a:ext cx="150733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Revisão mensal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28625" y="3264694"/>
            <a:ext cx="4000500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264694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2938" y="3461147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89369" y="3443288"/>
            <a:ext cx="206275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Painel de indicadores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714875" y="3264694"/>
            <a:ext cx="4000500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14875" y="3264694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929188" y="3461147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175619" y="3443288"/>
            <a:ext cx="13287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Relatório final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MODELO DE RECEITA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707356"/>
            <a:ext cx="4000500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707356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2938" y="1903809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89369" y="1885950"/>
            <a:ext cx="234672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Programas empresariais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14875" y="1707356"/>
            <a:ext cx="4000500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14875" y="1707356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29188" y="1903809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175619" y="1885950"/>
            <a:ext cx="201275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Taxa de participação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8625" y="2486025"/>
            <a:ext cx="4000500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8625" y="2486025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2938" y="2682478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89369" y="2664619"/>
            <a:ext cx="206097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Conselho estratégico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714875" y="2486025"/>
            <a:ext cx="4000500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14875" y="2486025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29188" y="2682478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175619" y="2664619"/>
            <a:ext cx="212169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Eventos institucionais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28625" y="3264694"/>
            <a:ext cx="4000500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264694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2938" y="3461147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89369" y="3443288"/>
            <a:ext cx="108406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Patrocínios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714875" y="3264694"/>
            <a:ext cx="4000500" cy="60007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14875" y="3264694"/>
            <a:ext cx="28575" cy="600075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929188" y="3461147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175619" y="3443288"/>
            <a:ext cx="195024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Programas premium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MÉTRICAS DE SUCESSO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28625" y="1734145"/>
            <a:ext cx="4000500" cy="58221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28625" y="1734145"/>
            <a:ext cx="28575" cy="58221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2938" y="1921669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89369" y="1912739"/>
            <a:ext cx="1927027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Evolução operacional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14875" y="1734145"/>
            <a:ext cx="4000500" cy="58221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14875" y="1734145"/>
            <a:ext cx="28575" cy="58221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29188" y="1921669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175619" y="1912739"/>
            <a:ext cx="2089547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Crescimento de receita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8625" y="2494955"/>
            <a:ext cx="4000500" cy="58221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28625" y="2494955"/>
            <a:ext cx="28575" cy="58221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2938" y="2682478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89369" y="2673548"/>
            <a:ext cx="209133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Organização financeira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14875" y="2494955"/>
            <a:ext cx="4000500" cy="58221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14875" y="2494955"/>
            <a:ext cx="28575" cy="58221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29188" y="2682478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175619" y="2673548"/>
            <a:ext cx="30575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Redução da dependência do dono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8625" y="3255764"/>
            <a:ext cx="4000500" cy="58221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3255764"/>
            <a:ext cx="28575" cy="58221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2938" y="3443288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89369" y="3434358"/>
            <a:ext cx="2171700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Evolução de maturidade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14875" y="3255764"/>
            <a:ext cx="4000500" cy="58221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714875" y="3255764"/>
            <a:ext cx="28575" cy="58221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929188" y="3443288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175619" y="3434358"/>
            <a:ext cx="230207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Renovação das empresas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48577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2100" b="1" kern="0" spc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VISÃO DE LONGO PRAZO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1357312" y="1298376"/>
            <a:ext cx="6429375" cy="3153966"/>
          </a:xfrm>
          <a:prstGeom prst="rect">
            <a:avLst/>
          </a:prstGeom>
          <a:solidFill>
            <a:srgbClr val="C9A84C">
              <a:alpha val="5000"/>
            </a:srgbClr>
          </a:solidFill>
          <a:ln w="18288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424568" y="1579663"/>
            <a:ext cx="57150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9F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Transformar o RBG em: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881610" y="2213670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128042" y="2178844"/>
            <a:ext cx="313432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</a:t>
            </a:r>
            <a:r>
              <a:rPr lang="en-US" sz="1600" b="1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EFERÊNCIA </a:t>
            </a:r>
            <a:r>
              <a:rPr lang="en-US" sz="16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EMPRESARIAL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94967" y="2633365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841399" y="2598539"/>
            <a:ext cx="370760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PLATAFORMA DE CRESCIMENTO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761952" y="3053060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008384" y="3090565"/>
            <a:ext cx="337363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ECOSSISTEMA ESTRATÉGICO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714500" y="3611166"/>
            <a:ext cx="1035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9A8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960931" y="3582591"/>
            <a:ext cx="5468569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A84C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ESTRUTURA RECONHECIDA POR RESULTADOS REAIS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0" y="4714875"/>
            <a:ext cx="9144000" cy="71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8625" y="4868466"/>
            <a:ext cx="163770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8F9FA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ROYAL BUSINESS GROWTH (RBG)</a:t>
            </a:r>
            <a:endParaRPr lang="en-US" sz="7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608" y="4822031"/>
            <a:ext cx="380767" cy="2143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1238</Words>
  <Application>Microsoft Macintosh PowerPoint</Application>
  <PresentationFormat>On-screen Show (16:9)</PresentationFormat>
  <Paragraphs>427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Inter</vt:lpstr>
      <vt:lpstr>Inter ExtraBold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Alexandre Medeiros</cp:lastModifiedBy>
  <cp:revision>4</cp:revision>
  <dcterms:created xsi:type="dcterms:W3CDTF">2026-05-26T14:48:01Z</dcterms:created>
  <dcterms:modified xsi:type="dcterms:W3CDTF">2026-06-06T16:34:53Z</dcterms:modified>
</cp:coreProperties>
</file>